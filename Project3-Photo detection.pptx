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9" r:id="rId5"/>
    <p:sldId id="286" r:id="rId6"/>
    <p:sldId id="291" r:id="rId7"/>
    <p:sldId id="292" r:id="rId8"/>
    <p:sldId id="288" r:id="rId9"/>
    <p:sldId id="290" r:id="rId10"/>
    <p:sldId id="258" r:id="rId11"/>
  </p:sldIdLst>
  <p:sldSz cx="18288000" cy="10287000"/>
  <p:notesSz cx="6858000" cy="9144000"/>
  <p:embeddedFontLst>
    <p:embeddedFont>
      <p:font typeface="Muli" panose="020B0604020202020204" charset="0"/>
      <p:regular r:id="rId14"/>
    </p:embeddedFont>
    <p:embeddedFont>
      <p:font typeface="Muli Bold" panose="020B0604020202020204" charset="0"/>
      <p:regular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54" autoAdjust="0"/>
    <p:restoredTop sz="95201" autoAdjust="0"/>
  </p:normalViewPr>
  <p:slideViewPr>
    <p:cSldViewPr>
      <p:cViewPr varScale="1">
        <p:scale>
          <a:sx n="58" d="100"/>
          <a:sy n="58" d="100"/>
        </p:scale>
        <p:origin x="58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E85146-772B-D753-4E65-D6BC886527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47545-3CF6-2575-4DB2-7E42B3E766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C68F3-6EFB-47E9-933D-906B1CCCF210}" type="datetime1">
              <a:rPr lang="vi-VN" smtClean="0"/>
              <a:t>19/05/2026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3DD23-136B-5126-E525-BE44BEB675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819A3-0AF4-E6C4-9802-17A55399BF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A3323-526E-46C1-A52D-E45DDB408DE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345156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25740-7C6D-4A3B-AE87-FCDA283BAC81}" type="datetime1">
              <a:rPr lang="vi-VN" smtClean="0"/>
              <a:t>19/05/2026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5428C-D823-488D-91BE-45AC32FF8D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90871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C513-339D-41E6-AEAC-724C760862B1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E728-AD83-4A20-9F00-31001C1DE26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DDB9-6660-4496-BC24-0AE05BA86EA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6474-0E7C-4CAF-BEBC-5617584D2A71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1655-F446-4B5D-9E10-4A620AF973F5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E8C0-A9E2-477A-A9D4-B3F5E33AFEDF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D070679-5010-6238-1D4D-B070AD8F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4ECD4-E677-4F9B-9EE0-AFB7D0591CB9}" type="datetime1">
              <a:rPr lang="en-US" smtClean="0"/>
              <a:t>5/19/2026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C7D368D-9B32-A5CD-D4D2-CD30BE78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9C67740-7633-F2D5-4B1D-81933694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9883775"/>
            <a:ext cx="2133600" cy="365125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ECD3-2DA7-42FC-A5E3-A35985923788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95A9-15A7-47E1-A769-5633DC446898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83D8-6A3D-4441-BEC1-216E1B9BBE7A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D040-6F44-47F3-B83E-0BC6B4EFEDB7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E0AA3-2A28-44D3-8D52-185C70A18380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9625012"/>
            <a:ext cx="21336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7073" y="0"/>
            <a:ext cx="13200927" cy="10287000"/>
          </a:xfrm>
          <a:custGeom>
            <a:avLst/>
            <a:gdLst/>
            <a:ahLst/>
            <a:cxnLst/>
            <a:rect l="l" t="t" r="r" b="b"/>
            <a:pathLst>
              <a:path w="15315362" h="17088270">
                <a:moveTo>
                  <a:pt x="0" y="0"/>
                </a:moveTo>
                <a:lnTo>
                  <a:pt x="15315361" y="0"/>
                </a:lnTo>
                <a:lnTo>
                  <a:pt x="15315361" y="17088270"/>
                </a:lnTo>
                <a:lnTo>
                  <a:pt x="0" y="17088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961" r="-16016" b="-49153"/>
            </a:stretch>
          </a:blipFill>
        </p:spPr>
        <p:txBody>
          <a:bodyPr/>
          <a:lstStyle/>
          <a:p>
            <a:endPara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09600" y="396957"/>
            <a:ext cx="3636985" cy="579354"/>
            <a:chOff x="0" y="0"/>
            <a:chExt cx="4849313" cy="7724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6962" cy="757084"/>
            </a:xfrm>
            <a:custGeom>
              <a:avLst/>
              <a:gdLst/>
              <a:ahLst/>
              <a:cxnLst/>
              <a:rect l="l" t="t" r="r" b="b"/>
              <a:pathLst>
                <a:path w="646962" h="757084">
                  <a:moveTo>
                    <a:pt x="0" y="0"/>
                  </a:moveTo>
                  <a:lnTo>
                    <a:pt x="646962" y="0"/>
                  </a:lnTo>
                  <a:lnTo>
                    <a:pt x="646962" y="757084"/>
                  </a:lnTo>
                  <a:lnTo>
                    <a:pt x="0" y="75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03557" y="327820"/>
              <a:ext cx="4045756" cy="444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Muli"/>
                </a:rPr>
                <a:t>AI Engineer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630400" y="9105900"/>
            <a:ext cx="3352799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3600" i="1" dirty="0">
                <a:solidFill>
                  <a:srgbClr val="604A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rPr>
              <a:t>Pham Minh Duc</a:t>
            </a:r>
          </a:p>
          <a:p>
            <a:pPr algn="ctr">
              <a:lnSpc>
                <a:spcPts val="3920"/>
              </a:lnSpc>
            </a:pPr>
            <a:r>
              <a:rPr lang="en-US" sz="3600" i="1" dirty="0">
                <a:solidFill>
                  <a:srgbClr val="604A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rPr>
              <a:t>20-May-2026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4800" y="1181100"/>
            <a:ext cx="13030200" cy="1862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2100" b="1" dirty="0">
                <a:solidFill>
                  <a:srgbClr val="604A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 Semi-Bold"/>
              </a:rPr>
              <a:t>PROJECT MODULE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42FFF-F977-2E5D-0C73-1B9074145013}"/>
              </a:ext>
            </a:extLst>
          </p:cNvPr>
          <p:cNvSpPr txBox="1"/>
          <p:nvPr/>
        </p:nvSpPr>
        <p:spPr>
          <a:xfrm>
            <a:off x="304800" y="3657023"/>
            <a:ext cx="945988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10100" b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sz="8000" dirty="0"/>
              <a:t>ỨNG DỤNG DEEP LEARNING PHÂN LOẠI ẢNH FAKE VS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788453" y="3725737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81199" y="3581160"/>
            <a:ext cx="12122557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2. Tiền xử lý dữ liệu (Data Preprocessing)</a:t>
            </a:r>
            <a:endParaRPr lang="en-US" dirty="0">
              <a:sym typeface="Muli"/>
              <a:hlinkClick r:id="rId3" action="ppaction://hlinksldjum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81200" y="4690501"/>
            <a:ext cx="12122557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3. Kiến trúc mô hình &amp; Quá trình huấn luyện</a:t>
            </a:r>
            <a:endParaRPr lang="en-US" dirty="0">
              <a:sym typeface="Muli"/>
              <a:hlinkClick r:id="rId4" action="ppaction://hlinksldjump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81201" y="6909183"/>
            <a:ext cx="13106400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5. Quá trình tối ưu hóa mô hình</a:t>
            </a:r>
            <a:endParaRPr lang="en-US" dirty="0">
              <a:sym typeface="Muli"/>
              <a:hlinkClick r:id="" action="ppaction://noaction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14554200" y="5208536"/>
            <a:ext cx="3858376" cy="5368104"/>
          </a:xfrm>
          <a:custGeom>
            <a:avLst/>
            <a:gdLst/>
            <a:ahLst/>
            <a:cxnLst/>
            <a:rect l="l" t="t" r="r" b="b"/>
            <a:pathLst>
              <a:path w="7716752" h="7475603">
                <a:moveTo>
                  <a:pt x="0" y="0"/>
                </a:moveTo>
                <a:lnTo>
                  <a:pt x="7716752" y="0"/>
                </a:lnTo>
                <a:lnTo>
                  <a:pt x="7716752" y="7475604"/>
                </a:lnTo>
                <a:lnTo>
                  <a:pt x="0" y="7475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00000" b="-39260"/>
            </a:stretch>
          </a:blipFill>
        </p:spPr>
        <p:txBody>
          <a:bodyPr/>
          <a:lstStyle/>
          <a:p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950888" y="530089"/>
            <a:ext cx="8369029" cy="1390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13800" b="1" u="none" dirty="0" err="1">
                <a:solidFill>
                  <a:srgbClr val="604A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 Bold"/>
              </a:rPr>
              <a:t>Nội</a:t>
            </a:r>
            <a:r>
              <a:rPr lang="en-US" sz="13800" b="1" u="none" dirty="0">
                <a:solidFill>
                  <a:srgbClr val="604A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 Bold"/>
              </a:rPr>
              <a:t> dung</a:t>
            </a:r>
          </a:p>
        </p:txBody>
      </p:sp>
      <p:sp>
        <p:nvSpPr>
          <p:cNvPr id="51" name="Freeform 6">
            <a:extLst>
              <a:ext uri="{FF2B5EF4-FFF2-40B4-BE49-F238E27FC236}">
                <a16:creationId xmlns:a16="http://schemas.microsoft.com/office/drawing/2014/main" id="{2D4A9C11-37C1-9705-6AF7-067CFE8548ED}"/>
              </a:ext>
            </a:extLst>
          </p:cNvPr>
          <p:cNvSpPr/>
          <p:nvPr/>
        </p:nvSpPr>
        <p:spPr>
          <a:xfrm>
            <a:off x="788453" y="7041311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Freeform 6">
            <a:extLst>
              <a:ext uri="{FF2B5EF4-FFF2-40B4-BE49-F238E27FC236}">
                <a16:creationId xmlns:a16="http://schemas.microsoft.com/office/drawing/2014/main" id="{A5EC54AD-A176-AC9C-CD22-87AE889FBA37}"/>
              </a:ext>
            </a:extLst>
          </p:cNvPr>
          <p:cNvSpPr/>
          <p:nvPr/>
        </p:nvSpPr>
        <p:spPr>
          <a:xfrm>
            <a:off x="788453" y="4830929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09CA48D-82A8-7F14-53DC-B7F95C5F1FDC}"/>
              </a:ext>
            </a:extLst>
          </p:cNvPr>
          <p:cNvSpPr/>
          <p:nvPr/>
        </p:nvSpPr>
        <p:spPr>
          <a:xfrm>
            <a:off x="788453" y="2620545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E050278-01CE-7107-40E4-8DB95E272BED}"/>
              </a:ext>
            </a:extLst>
          </p:cNvPr>
          <p:cNvSpPr txBox="1"/>
          <p:nvPr/>
        </p:nvSpPr>
        <p:spPr>
          <a:xfrm>
            <a:off x="1981200" y="2476500"/>
            <a:ext cx="1030840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1. Tổng quan về Bộ dữ liệu (Dataset)</a:t>
            </a:r>
            <a:endParaRPr lang="en-US" dirty="0">
              <a:sym typeface="Muli"/>
              <a:hlinkClick r:id="rId3" action="ppaction://hlinksldjump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A1F28-7137-AB73-E7E1-8E8DBDF1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F1BA40FA-AA26-9ECE-33D6-FFA5EF7D738F}"/>
              </a:ext>
            </a:extLst>
          </p:cNvPr>
          <p:cNvSpPr txBox="1"/>
          <p:nvPr/>
        </p:nvSpPr>
        <p:spPr>
          <a:xfrm>
            <a:off x="1981200" y="8018524"/>
            <a:ext cx="12122555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6. Kết quả tổng quan &amp; Đánh giá hiệu suất</a:t>
            </a:r>
            <a:endParaRPr lang="en-US" dirty="0">
              <a:sym typeface="Muli"/>
              <a:hlinkClick r:id="" action="ppaction://noaction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B01B6608-4122-65BB-C27E-E90869055D7D}"/>
              </a:ext>
            </a:extLst>
          </p:cNvPr>
          <p:cNvSpPr/>
          <p:nvPr/>
        </p:nvSpPr>
        <p:spPr>
          <a:xfrm>
            <a:off x="788453" y="8146502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37D2E39F-C97F-7F81-DFD7-9097949ED540}"/>
              </a:ext>
            </a:extLst>
          </p:cNvPr>
          <p:cNvSpPr txBox="1"/>
          <p:nvPr/>
        </p:nvSpPr>
        <p:spPr>
          <a:xfrm>
            <a:off x="1981200" y="9127865"/>
            <a:ext cx="12122555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7. Trình kiểm tra ảnh FAKE và REAL</a:t>
            </a:r>
            <a:endParaRPr lang="en-US" dirty="0">
              <a:sym typeface="Muli"/>
              <a:hlinkClick r:id="" action="ppaction://noaction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10B4A4E9-958A-36A6-8E90-85006F2F6BE8}"/>
              </a:ext>
            </a:extLst>
          </p:cNvPr>
          <p:cNvSpPr/>
          <p:nvPr/>
        </p:nvSpPr>
        <p:spPr>
          <a:xfrm>
            <a:off x="788453" y="9251694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14860A3A-0DB5-B967-789C-76FB6BDDF475}"/>
              </a:ext>
            </a:extLst>
          </p:cNvPr>
          <p:cNvSpPr txBox="1"/>
          <p:nvPr/>
        </p:nvSpPr>
        <p:spPr>
          <a:xfrm>
            <a:off x="1981201" y="5799842"/>
            <a:ext cx="13106400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479"/>
              </a:lnSpc>
              <a:defRPr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4. Đánh giá mô hình</a:t>
            </a:r>
            <a:endParaRPr lang="en-US" dirty="0">
              <a:sym typeface="Muli"/>
              <a:hlinkClick r:id="" action="ppaction://noaction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D9BA230A-11B4-530C-D670-0F2FB90B8E11}"/>
              </a:ext>
            </a:extLst>
          </p:cNvPr>
          <p:cNvSpPr/>
          <p:nvPr/>
        </p:nvSpPr>
        <p:spPr>
          <a:xfrm>
            <a:off x="788453" y="5936120"/>
            <a:ext cx="465238" cy="288990"/>
          </a:xfrm>
          <a:custGeom>
            <a:avLst/>
            <a:gdLst/>
            <a:ahLst/>
            <a:cxnLst/>
            <a:rect l="l" t="t" r="r" b="b"/>
            <a:pathLst>
              <a:path w="405079" h="385319">
                <a:moveTo>
                  <a:pt x="0" y="0"/>
                </a:moveTo>
                <a:lnTo>
                  <a:pt x="405079" y="0"/>
                </a:lnTo>
                <a:lnTo>
                  <a:pt x="405079" y="385319"/>
                </a:lnTo>
                <a:lnTo>
                  <a:pt x="0" y="3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391" t="-52297" r="-110517" b="-133482"/>
            </a:stretch>
          </a:blipFill>
        </p:spPr>
        <p:txBody>
          <a:bodyPr/>
          <a:lstStyle/>
          <a:p>
            <a:endParaRPr lang="vi-V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7">
            <a:extLst>
              <a:ext uri="{FF2B5EF4-FFF2-40B4-BE49-F238E27FC236}">
                <a16:creationId xmlns:a16="http://schemas.microsoft.com/office/drawing/2014/main" id="{35297908-1DD4-486F-1839-840E7FEB2196}"/>
              </a:ext>
            </a:extLst>
          </p:cNvPr>
          <p:cNvSpPr txBox="1"/>
          <p:nvPr/>
        </p:nvSpPr>
        <p:spPr>
          <a:xfrm>
            <a:off x="152400" y="111320"/>
            <a:ext cx="10308406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1. Tổng quan về Bộ dữ liệu (Dataset)</a:t>
            </a:r>
            <a:endParaRPr lang="en-US" sz="440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  <a:sym typeface="Muli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5FF641C4-F0B9-BC33-7F96-2CD2023ED110}"/>
              </a:ext>
            </a:extLst>
          </p:cNvPr>
          <p:cNvSpPr/>
          <p:nvPr/>
        </p:nvSpPr>
        <p:spPr>
          <a:xfrm>
            <a:off x="12763501" y="8572501"/>
            <a:ext cx="5524499" cy="1714500"/>
          </a:xfrm>
          <a:custGeom>
            <a:avLst/>
            <a:gdLst/>
            <a:ahLst/>
            <a:cxnLst/>
            <a:rect l="l" t="t" r="r" b="b"/>
            <a:pathLst>
              <a:path w="8805509" h="8288185">
                <a:moveTo>
                  <a:pt x="0" y="0"/>
                </a:moveTo>
                <a:lnTo>
                  <a:pt x="8805509" y="0"/>
                </a:lnTo>
                <a:lnTo>
                  <a:pt x="8805509" y="8288186"/>
                </a:lnTo>
                <a:lnTo>
                  <a:pt x="0" y="8288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10536" t="-4" r="-100000" b="-187634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A1E4-BF4F-950E-3AE8-9AAB9705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2F493-28A9-DCC6-F524-2E0EAF56AB19}"/>
              </a:ext>
            </a:extLst>
          </p:cNvPr>
          <p:cNvSpPr txBox="1"/>
          <p:nvPr/>
        </p:nvSpPr>
        <p:spPr>
          <a:xfrm>
            <a:off x="609599" y="1771996"/>
            <a:ext cx="12153901" cy="590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Tên bộ dữ liệu:</a:t>
            </a:r>
            <a:r>
              <a:rPr kumimoji="0" lang="vi-VN" altLang="vi-V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Fake vs Real Photo Dataset.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Train: FAKE, REAL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vi-VN" altLang="vi-VN" sz="3200" dirty="0">
                <a:latin typeface="Segoe UI" panose="020B0502040204020203" pitchFamily="34" charset="0"/>
                <a:cs typeface="Segoe UI" panose="020B0502040204020203" pitchFamily="34" charset="0"/>
              </a:rPr>
              <a:t>Test: FAKE, REAL</a:t>
            </a:r>
            <a:endParaRPr kumimoji="0" lang="vi-VN" altLang="vi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Tổng số lượng:</a:t>
            </a:r>
            <a:r>
              <a:rPr kumimoji="0" lang="vi-VN" altLang="vi-V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120.000 tấm ảnh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Phân chia dữ liệu:</a:t>
            </a:r>
            <a:endParaRPr kumimoji="0" lang="vi-VN" altLang="vi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vi-VN" altLang="vi-V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Tập Train (Huấn luyện): 80.000 ảnh</a:t>
            </a:r>
            <a:r>
              <a:rPr lang="vi-VN" altLang="vi-VN" sz="3200" dirty="0">
                <a:latin typeface="Segoe UI" panose="020B0502040204020203" pitchFamily="34" charset="0"/>
                <a:cs typeface="Segoe UI" panose="020B0502040204020203" pitchFamily="34" charset="0"/>
              </a:rPr>
              <a:t> (chiếm 20% tổng tập train).</a:t>
            </a:r>
            <a:endParaRPr kumimoji="0" lang="vi-VN" altLang="vi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Tập Validation (Xác thực): 20.000 ảnh (chiếm 20% tổng tập train).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Tập Test (Kiểm tra độc lập): 20.000 ảnh.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79DF99-CAED-6CA9-849F-CF2B109C1C2D}"/>
              </a:ext>
            </a:extLst>
          </p:cNvPr>
          <p:cNvGrpSpPr/>
          <p:nvPr/>
        </p:nvGrpSpPr>
        <p:grpSpPr>
          <a:xfrm>
            <a:off x="13639800" y="1179220"/>
            <a:ext cx="3426249" cy="3426249"/>
            <a:chOff x="13639800" y="1705475"/>
            <a:chExt cx="3426249" cy="342624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7DF51FB-947C-FF27-DBD2-5445CB65E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39800" y="1705475"/>
              <a:ext cx="3426249" cy="342624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6AE8E7-8184-EC72-060B-55F947DF1BFB}"/>
                </a:ext>
              </a:extLst>
            </p:cNvPr>
            <p:cNvSpPr/>
            <p:nvPr/>
          </p:nvSpPr>
          <p:spPr>
            <a:xfrm>
              <a:off x="13639800" y="1720022"/>
              <a:ext cx="1295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3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FAKE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38C37BD-655D-AF38-5F88-D2EF1283D5BD}"/>
              </a:ext>
            </a:extLst>
          </p:cNvPr>
          <p:cNvGrpSpPr/>
          <p:nvPr/>
        </p:nvGrpSpPr>
        <p:grpSpPr>
          <a:xfrm>
            <a:off x="13639799" y="5295900"/>
            <a:ext cx="3426249" cy="3436685"/>
            <a:chOff x="13639799" y="5676900"/>
            <a:chExt cx="3426249" cy="343668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C87D0E-D137-EAA3-209C-C994A7F4D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39799" y="5687336"/>
              <a:ext cx="3426249" cy="342624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AA08B3D-FA62-B38A-DAEA-B1C12628DAE4}"/>
                </a:ext>
              </a:extLst>
            </p:cNvPr>
            <p:cNvSpPr/>
            <p:nvPr/>
          </p:nvSpPr>
          <p:spPr>
            <a:xfrm>
              <a:off x="13639800" y="5676900"/>
              <a:ext cx="1295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3200" b="1" dirty="0">
                  <a:solidFill>
                    <a:srgbClr val="0033CC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2E0C0A1D-B0C4-B84D-FB7F-8BFAA4C32A24}"/>
              </a:ext>
            </a:extLst>
          </p:cNvPr>
          <p:cNvSpPr/>
          <p:nvPr/>
        </p:nvSpPr>
        <p:spPr>
          <a:xfrm>
            <a:off x="15392401" y="0"/>
            <a:ext cx="2895600" cy="2901856"/>
          </a:xfrm>
          <a:custGeom>
            <a:avLst/>
            <a:gdLst/>
            <a:ahLst/>
            <a:cxnLst/>
            <a:rect l="l" t="t" r="r" b="b"/>
            <a:pathLst>
              <a:path w="10974454" h="10439449">
                <a:moveTo>
                  <a:pt x="0" y="0"/>
                </a:moveTo>
                <a:lnTo>
                  <a:pt x="10974454" y="0"/>
                </a:lnTo>
                <a:lnTo>
                  <a:pt x="10974454" y="10439449"/>
                </a:lnTo>
                <a:lnTo>
                  <a:pt x="0" y="1043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702" r="-4823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06F44A-F0F8-B9DA-DAB7-39C7E796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86FAB41-0A64-641E-34F3-9302462B02D2}"/>
              </a:ext>
            </a:extLst>
          </p:cNvPr>
          <p:cNvSpPr txBox="1"/>
          <p:nvPr/>
        </p:nvSpPr>
        <p:spPr>
          <a:xfrm>
            <a:off x="152400" y="111320"/>
            <a:ext cx="11277600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2. Tiền xử lý dữ liệu (Data Preprocessing)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41BFE-EDB9-306C-D22D-7CE8A4985CBD}"/>
              </a:ext>
            </a:extLst>
          </p:cNvPr>
          <p:cNvSpPr txBox="1"/>
          <p:nvPr/>
        </p:nvSpPr>
        <p:spPr>
          <a:xfrm>
            <a:off x="571500" y="1450928"/>
            <a:ext cx="15011400" cy="77680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kumimoji="0" sz="3200" b="1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altLang="vi-VN" sz="2800" b="0" dirty="0"/>
              <a:t> </a:t>
            </a:r>
            <a:r>
              <a:rPr lang="vi-VN" altLang="vi-VN" sz="2800" dirty="0"/>
              <a:t>Đồng nhất kích thước ảnh (IMG_SIZE = 128x128): </a:t>
            </a:r>
            <a:r>
              <a:rPr lang="vi-VN" altLang="vi-VN" sz="2800" b="0" dirty="0"/>
              <a:t>Chuyển tất cả các ảnh thô (lớn, nhỏ không đều) về cùng một độ phân giải cố định để mạng CNN có thể xử lý đồng bộ.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altLang="vi-VN" sz="2800" b="0" dirty="0"/>
              <a:t> </a:t>
            </a:r>
            <a:r>
              <a:rPr lang="vi-VN" altLang="vi-VN" sz="2800" dirty="0"/>
              <a:t>Kích thước lô dữ liệu (BATCH_SIZE = 32): </a:t>
            </a:r>
            <a:r>
              <a:rPr lang="vi-VN" altLang="vi-VN" sz="2800" b="0" dirty="0"/>
              <a:t>Số lượng ảnh mô hình sẽ "xem" và tính toán cùng một lúc trong bộ nhớ GPU trước khi cập nhật lại trọng số.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800" b="0" dirty="0"/>
              <a:t> </a:t>
            </a:r>
            <a:r>
              <a:rPr lang="vi-VN" sz="2800" dirty="0"/>
              <a:t>Chuẩn hóa điểm ảnh (rescale): </a:t>
            </a:r>
            <a:r>
              <a:rPr lang="vi-VN" sz="2800" b="0" dirty="0"/>
              <a:t>Chuyển đổi giá trị Pixel từ [0 - 255] về đoạn [0 - 1].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800" b="0" dirty="0"/>
              <a:t> </a:t>
            </a:r>
            <a:r>
              <a:rPr lang="vi-VN" sz="2800" dirty="0"/>
              <a:t>Tăng cường dữ liệu (Data Augmentation):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vi-VN" sz="2800" b="0" dirty="0"/>
              <a:t> Xoay ngẫu nhiên (rotation_range=20).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vi-VN" sz="2800" b="0" dirty="0"/>
              <a:t> Dịch chuyển ảnh (width/height_shift_range=0.2).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vi-VN" sz="2800" b="0" dirty="0"/>
              <a:t> Biến dạng và Phóng to/Thu nhỏ (shear/zoom_range=0.2).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vi-VN" sz="2800" b="0" dirty="0"/>
              <a:t> Lật ảnh đối xứng ngang (horizontal_flip=True).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vi-VN" sz="2800" b="0" dirty="0"/>
              <a:t> Phân chia dữ liệu (validation_split=0.2): Tự động trích 20% dữ liệu Train để làm tập Validation (Xác thực)</a:t>
            </a:r>
            <a:endParaRPr lang="vi-VN" altLang="vi-VN" sz="28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4EAD-0FF5-5A80-1A2F-B8A27795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D0509B8F-6F0A-B96E-F0EA-1DD7D0A1925D}"/>
              </a:ext>
            </a:extLst>
          </p:cNvPr>
          <p:cNvSpPr/>
          <p:nvPr/>
        </p:nvSpPr>
        <p:spPr>
          <a:xfrm>
            <a:off x="15392401" y="0"/>
            <a:ext cx="2895600" cy="2901856"/>
          </a:xfrm>
          <a:custGeom>
            <a:avLst/>
            <a:gdLst/>
            <a:ahLst/>
            <a:cxnLst/>
            <a:rect l="l" t="t" r="r" b="b"/>
            <a:pathLst>
              <a:path w="10974454" h="10439449">
                <a:moveTo>
                  <a:pt x="0" y="0"/>
                </a:moveTo>
                <a:lnTo>
                  <a:pt x="10974454" y="0"/>
                </a:lnTo>
                <a:lnTo>
                  <a:pt x="10974454" y="10439449"/>
                </a:lnTo>
                <a:lnTo>
                  <a:pt x="0" y="1043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702" r="-4823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EEBE8-8398-61A4-CA64-D8C87D35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FC300-7C95-D7F7-18A2-42EC28279C0A}"/>
              </a:ext>
            </a:extLst>
          </p:cNvPr>
          <p:cNvSpPr txBox="1"/>
          <p:nvPr/>
        </p:nvSpPr>
        <p:spPr>
          <a:xfrm>
            <a:off x="526474" y="1097190"/>
            <a:ext cx="14831291" cy="8495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Phương pháp áp dụng: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Học chuyển giao (Transfer Learning) với kiến trúc mạng </a:t>
            </a: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MobileNetV2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pre-trained trên tập ImageNet.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Cải tiến thêm vào: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Tầng phẳng hóa </a:t>
            </a: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(GlobalAveragePooling2D): 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Thu gọn bản đồ đặc trưng khối 3D thành chuỗi số 1D để giảm tham số tính toán và tăng tốc.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800" dirty="0"/>
              <a:t>Tầng tư duy </a:t>
            </a:r>
            <a:r>
              <a:rPr lang="vi-VN" altLang="vi-VN" sz="2800" b="1" dirty="0"/>
              <a:t>(Dense 128): </a:t>
            </a:r>
            <a:r>
              <a:rPr lang="vi-VN" altLang="vi-VN" sz="2800" dirty="0"/>
              <a:t>Tầng kết nối đầy đủ giúp liên kết và phân tích sâu các mối quan hệ giữa các đặc trưng ảnh.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800" dirty="0"/>
              <a:t>Tầng chống học vẹt </a:t>
            </a:r>
            <a:r>
              <a:rPr lang="vi-VN" altLang="vi-VN" sz="2800" b="1" dirty="0"/>
              <a:t>(Dropout 0.5): </a:t>
            </a:r>
            <a:r>
              <a:rPr lang="vi-VN" altLang="vi-VN" sz="2800" dirty="0"/>
              <a:t>Ngắt ngẫu nhiên 50% số nơ-ron ở mỗi bước học nhằm ép mô hình không bị nhớ vẹt dữ liệu.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800" dirty="0"/>
              <a:t>Lớp quyết định </a:t>
            </a:r>
            <a:r>
              <a:rPr lang="vi-VN" altLang="vi-VN" sz="2800" b="1" dirty="0"/>
              <a:t>(Dense 1 + Sigmoid): </a:t>
            </a:r>
            <a:r>
              <a:rPr lang="vi-VN" altLang="vi-VN" sz="2800" dirty="0"/>
              <a:t>Tầng đầu ra nén kết quả về dải xác suất [0.0 - 1.0]. Tiến về 0 là FAKE, tiến về 1 là REAL. </a:t>
            </a:r>
            <a:endParaRPr kumimoji="0" lang="vi-VN" altLang="vi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Tham số huấn luyện (Hyperparameters):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Batch size = 128, Optimizer = Adam, Loss = Binary Crossentropy</a:t>
            </a:r>
            <a:r>
              <a:rPr lang="vi-VN" altLang="vi-VN" sz="2800" dirty="0">
                <a:latin typeface="Segoe UI" panose="020B0502040204020203" pitchFamily="34" charset="0"/>
                <a:cs typeface="Segoe UI" panose="020B0502040204020203" pitchFamily="34" charset="0"/>
              </a:rPr>
              <a:t>, Epochs = 3</a:t>
            </a:r>
            <a:endParaRPr kumimoji="0" lang="vi-VN" altLang="vi-V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192993C-3E9E-18EF-D8F4-E7BF4920990C}"/>
              </a:ext>
            </a:extLst>
          </p:cNvPr>
          <p:cNvSpPr txBox="1"/>
          <p:nvPr/>
        </p:nvSpPr>
        <p:spPr>
          <a:xfrm>
            <a:off x="152400" y="111320"/>
            <a:ext cx="12115800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3. Kiến trúc mô hình &amp; Quá trình huấn luyện</a:t>
            </a:r>
          </a:p>
        </p:txBody>
      </p:sp>
    </p:spTree>
    <p:extLst>
      <p:ext uri="{BB962C8B-B14F-4D97-AF65-F5344CB8AC3E}">
        <p14:creationId xmlns:p14="http://schemas.microsoft.com/office/powerpoint/2010/main" val="236899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B3019-71AA-9532-3CD7-51C551E5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167BC161-C849-17BE-5637-D6DBDC56CC33}"/>
              </a:ext>
            </a:extLst>
          </p:cNvPr>
          <p:cNvSpPr/>
          <p:nvPr/>
        </p:nvSpPr>
        <p:spPr>
          <a:xfrm>
            <a:off x="15392401" y="0"/>
            <a:ext cx="2895600" cy="2901856"/>
          </a:xfrm>
          <a:custGeom>
            <a:avLst/>
            <a:gdLst/>
            <a:ahLst/>
            <a:cxnLst/>
            <a:rect l="l" t="t" r="r" b="b"/>
            <a:pathLst>
              <a:path w="10974454" h="10439449">
                <a:moveTo>
                  <a:pt x="0" y="0"/>
                </a:moveTo>
                <a:lnTo>
                  <a:pt x="10974454" y="0"/>
                </a:lnTo>
                <a:lnTo>
                  <a:pt x="10974454" y="10439449"/>
                </a:lnTo>
                <a:lnTo>
                  <a:pt x="0" y="1043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702" r="-4823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65961C-CC1E-3A36-6284-AF51D8FD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64696-2C91-FEF6-DC20-8927402C5E43}"/>
              </a:ext>
            </a:extLst>
          </p:cNvPr>
          <p:cNvSpPr txBox="1"/>
          <p:nvPr/>
        </p:nvSpPr>
        <p:spPr>
          <a:xfrm>
            <a:off x="342901" y="1056189"/>
            <a:ext cx="8991600" cy="219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KẾT QUẢ TỔNG QUAN: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Độ chính xác (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Accuracy</a:t>
            </a: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) trên tập Test: </a:t>
            </a:r>
            <a:r>
              <a:rPr lang="vi-VN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81.09%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Giá trị mất mát (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Loss</a:t>
            </a: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) trên tập Test:  </a:t>
            </a:r>
            <a:r>
              <a:rPr lang="vi-VN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0.4216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F7C8FD-AAFF-0A6F-AEEF-BA8D7A28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00" t="32222" r="3000" b="26000"/>
          <a:stretch/>
        </p:blipFill>
        <p:spPr>
          <a:xfrm>
            <a:off x="7394773" y="4156066"/>
            <a:ext cx="10588427" cy="429859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994AE843-5EFA-49B5-5AFB-AB7FD0D6DB6F}"/>
              </a:ext>
            </a:extLst>
          </p:cNvPr>
          <p:cNvSpPr txBox="1"/>
          <p:nvPr/>
        </p:nvSpPr>
        <p:spPr>
          <a:xfrm>
            <a:off x="152400" y="111320"/>
            <a:ext cx="12115800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4. Đánh giá mô hình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80469B-9F09-4630-55D7-8359F6F7C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033694"/>
              </p:ext>
            </p:extLst>
          </p:nvPr>
        </p:nvGraphicFramePr>
        <p:xfrm>
          <a:off x="8229602" y="1832335"/>
          <a:ext cx="8991600" cy="1374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347897787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610030674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1185722435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668655666"/>
                    </a:ext>
                  </a:extLst>
                </a:gridCol>
              </a:tblGrid>
              <a:tr h="458861">
                <a:tc>
                  <a:txBody>
                    <a:bodyPr/>
                    <a:lstStyle/>
                    <a:p>
                      <a:endParaRPr lang="vi-VN" sz="2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Precision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Recall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721254"/>
                  </a:ext>
                </a:extLst>
              </a:tr>
              <a:tr h="445122"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92.55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b="1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67.98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0.7836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761206"/>
                  </a:ext>
                </a:extLst>
              </a:tr>
              <a:tr h="458861"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b="1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94.53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72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C9AEC1A-33EC-3026-B94F-F53576042720}"/>
              </a:ext>
            </a:extLst>
          </p:cNvPr>
          <p:cNvSpPr txBox="1"/>
          <p:nvPr/>
        </p:nvSpPr>
        <p:spPr>
          <a:xfrm>
            <a:off x="8077200" y="1088094"/>
            <a:ext cx="8991600" cy="57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BÁO CÁO HIỆU SUẤT CHI TIẾT (CLASSIFICATION REPORT):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D5E406-084E-4F1B-505C-A4DFA1A96CC2}"/>
              </a:ext>
            </a:extLst>
          </p:cNvPr>
          <p:cNvSpPr txBox="1"/>
          <p:nvPr/>
        </p:nvSpPr>
        <p:spPr>
          <a:xfrm>
            <a:off x="7620000" y="8678562"/>
            <a:ext cx="105884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200000"/>
              </a:lnSpc>
              <a:buFont typeface="Wingdings" panose="05000000000000000000" pitchFamily="2" charset="2"/>
              <a:buChar char="q"/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vi-VN" altLang="vi-VN" sz="2000" dirty="0"/>
              <a:t> Xu hướng chung: Độ chính xác (Accuracy) của tập Train và Validation đều có xu hướng đi lên, trong khi đường hàm mất mát (Loss) đi xuống đúng hướng.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vi-VN" altLang="vi-VN" sz="2000" dirty="0"/>
              <a:t> Đánh giá hiện tượng Overfitting: Hai đường đồ thị bám khá sát nhau, khoảng cách không quá xa </a:t>
            </a:r>
            <a:r>
              <a:rPr lang="vi-VN" altLang="vi-VN" sz="2000" dirty="0">
                <a:sym typeface="Wingdings" panose="05000000000000000000" pitchFamily="2" charset="2"/>
              </a:rPr>
              <a:t> </a:t>
            </a:r>
            <a:r>
              <a:rPr lang="vi-VN" altLang="vi-VN" sz="2000" dirty="0"/>
              <a:t>Mô hình hoạt động ổn định, không bị hiện tượng học vẹt (Overfitting).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574316E-ED93-D1F9-6E37-AA223CFE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22" t="31701" r="34000" b="14445"/>
          <a:stretch/>
        </p:blipFill>
        <p:spPr>
          <a:xfrm>
            <a:off x="367838" y="3837937"/>
            <a:ext cx="6566361" cy="56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6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51F4-D3E0-1DB7-E93B-E437CD1F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C7A7B-869A-6F06-8028-BF3C3A5527F7}"/>
              </a:ext>
            </a:extLst>
          </p:cNvPr>
          <p:cNvSpPr/>
          <p:nvPr/>
        </p:nvSpPr>
        <p:spPr>
          <a:xfrm>
            <a:off x="9147629" y="4073560"/>
            <a:ext cx="8911771" cy="10699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txBody>
          <a:bodyPr wrap="square">
            <a:no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vi-VN" sz="20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20C929-80F0-8622-6046-2E8BDA90D5CD}"/>
              </a:ext>
            </a:extLst>
          </p:cNvPr>
          <p:cNvSpPr/>
          <p:nvPr/>
        </p:nvSpPr>
        <p:spPr>
          <a:xfrm>
            <a:off x="9147629" y="1780276"/>
            <a:ext cx="8911771" cy="10863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txBody>
          <a:bodyPr wrap="square">
            <a:no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vi-VN" sz="20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5F43A647-B9E0-B4C6-BD37-B781AC6F04CE}"/>
              </a:ext>
            </a:extLst>
          </p:cNvPr>
          <p:cNvSpPr/>
          <p:nvPr/>
        </p:nvSpPr>
        <p:spPr>
          <a:xfrm rot="5400000">
            <a:off x="16156699" y="8155699"/>
            <a:ext cx="2129001" cy="2133601"/>
          </a:xfrm>
          <a:custGeom>
            <a:avLst/>
            <a:gdLst/>
            <a:ahLst/>
            <a:cxnLst/>
            <a:rect l="l" t="t" r="r" b="b"/>
            <a:pathLst>
              <a:path w="10974454" h="10439449">
                <a:moveTo>
                  <a:pt x="0" y="0"/>
                </a:moveTo>
                <a:lnTo>
                  <a:pt x="10974454" y="0"/>
                </a:lnTo>
                <a:lnTo>
                  <a:pt x="10974454" y="10439449"/>
                </a:lnTo>
                <a:lnTo>
                  <a:pt x="0" y="1043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702" r="-48232"/>
            </a:stretch>
          </a:blipFill>
        </p:spPr>
        <p:txBody>
          <a:bodyPr/>
          <a:lstStyle/>
          <a:p>
            <a:endParaRPr lang="vi-VN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79139-1CA8-8605-5E1D-A77628FD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DED1B-329C-5242-23FA-A898910247D8}"/>
              </a:ext>
            </a:extLst>
          </p:cNvPr>
          <p:cNvSpPr txBox="1"/>
          <p:nvPr/>
        </p:nvSpPr>
        <p:spPr>
          <a:xfrm>
            <a:off x="185651" y="1181100"/>
            <a:ext cx="8696498" cy="1685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342900" marR="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 kumimoji="0" sz="2000" b="1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vi-VN" sz="2400" dirty="0">
                <a:solidFill>
                  <a:srgbClr val="0033CC"/>
                </a:solidFill>
              </a:rPr>
              <a:t>Tinh chỉnh sâu kiến trúc mạng (Fine-Tuning): </a:t>
            </a:r>
            <a:r>
              <a:rPr lang="vi-VN" sz="2400" b="0" dirty="0"/>
              <a:t>Mở khóa các tầng cuối của mạng nền MobileNetV2 để mô hình tự học lại bộ lọc.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0D0E9-B9E5-3C98-6387-9F39CCDC8158}"/>
              </a:ext>
            </a:extLst>
          </p:cNvPr>
          <p:cNvSpPr txBox="1"/>
          <p:nvPr/>
        </p:nvSpPr>
        <p:spPr>
          <a:xfrm>
            <a:off x="9144000" y="1181100"/>
            <a:ext cx="8915400" cy="6671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Hyperparameters phổ biến trong bài toán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Learning Rate (Tốc độ học):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Bước đi của mô hình khi tìm công thức tối ưu. 0.1, 0.01,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0.001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0.0001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0.00001, ....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Batch Size (Kích thước lô):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Số lượng ảnh máy xem cùng một lúc 32, 64,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128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Epochs (Số vòng lặp):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Số lần cho mô hình học đi học lại toàn bộ 80.000 bức ảnh. Epochs =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,4,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,6,.....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Số lượng nơ-ron hoặc số tầng (Dense layers):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Độ rộng và độ sâu của các tầng phân loại thêm vào phía sau mô hình MobileNetV2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(layers.Dense(128))</a:t>
            </a:r>
            <a:endParaRPr lang="vi-VN" altLang="vi-VN" sz="2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Dropout Rate: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Tỷ lệ ngắt bớt nơ-ron ngẫu nhiên để ép mô hình không được học vẹt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vi-VN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Dropout=0.5)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A0A058-CE81-A0E1-8456-079089052C8C}"/>
              </a:ext>
            </a:extLst>
          </p:cNvPr>
          <p:cNvSpPr txBox="1"/>
          <p:nvPr/>
        </p:nvSpPr>
        <p:spPr>
          <a:xfrm>
            <a:off x="185651" y="3228702"/>
            <a:ext cx="8696498" cy="4599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Các kỹ thuật Data Preprocessing cốt lõi đối với dữ liệu hình ảnh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Chuẩn hóa kích thước (Resizing):</a:t>
            </a:r>
            <a:r>
              <a:rPr kumimoji="0" lang="vi-VN" altLang="vi-V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target_size</a:t>
            </a: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=(128, 128) </a:t>
            </a:r>
            <a:r>
              <a:rPr kumimoji="0" lang="vi-VN" altLang="vi-V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(224,224)</a:t>
            </a:r>
            <a:endParaRPr kumimoji="0" lang="vi-VN" altLang="vi-V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Chuẩn hóa giá trị điểm ảnh (Rescaling / Normalization):</a:t>
            </a:r>
            <a:r>
              <a:rPr kumimoji="0" lang="vi-VN" altLang="vi-V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rescale=1./255 ép tất cả các giá trị pixel về đoạn từ 0.0 đến 1.0.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Tăng cường dữ liệu (Data Augmentation): </a:t>
            </a:r>
            <a:r>
              <a:rPr kumimoji="0" lang="vi-VN" altLang="vi-V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Thay đổi các thông số x</a:t>
            </a:r>
            <a:r>
              <a:rPr lang="vi-VN" altLang="vi-VN" sz="2200" dirty="0">
                <a:latin typeface="Segoe UI" panose="020B0502040204020203" pitchFamily="34" charset="0"/>
                <a:cs typeface="Segoe UI" panose="020B0502040204020203" pitchFamily="34" charset="0"/>
              </a:rPr>
              <a:t>oay </a:t>
            </a:r>
            <a:r>
              <a:rPr kumimoji="0" lang="vi-VN" altLang="vi-V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ảnh </a:t>
            </a: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(20), </a:t>
            </a:r>
            <a:r>
              <a:rPr kumimoji="0" lang="vi-VN" altLang="vi-VN" sz="220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dịch ảnh ngang dọc </a:t>
            </a: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(0.2), </a:t>
            </a:r>
            <a:r>
              <a:rPr kumimoji="0" lang="vi-VN" altLang="vi-VN" sz="220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biến dạng </a:t>
            </a:r>
            <a:r>
              <a:rPr kumimoji="0" lang="vi-VN" altLang="vi-VN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(0.2), </a:t>
            </a:r>
            <a:r>
              <a:rPr kumimoji="0" lang="vi-VN" altLang="vi-V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lật ảnh, phóng to</a:t>
            </a:r>
            <a:r>
              <a:rPr lang="vi-VN" altLang="vi-VN" sz="2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vi-VN" altLang="vi-V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thu nhỏ ngẫu nhiên</a:t>
            </a:r>
            <a:r>
              <a:rPr lang="vi-VN" altLang="vi-VN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vi-VN" altLang="vi-VN" sz="2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(0.2)</a:t>
            </a:r>
            <a:r>
              <a:rPr lang="vi-VN" altLang="vi-VN" sz="2200" dirty="0">
                <a:latin typeface="Segoe UI" panose="020B0502040204020203" pitchFamily="34" charset="0"/>
                <a:cs typeface="Segoe UI" panose="020B0502040204020203" pitchFamily="34" charset="0"/>
              </a:rPr>
              <a:t>, ...</a:t>
            </a:r>
            <a:endParaRPr kumimoji="0" lang="vi-VN" altLang="vi-V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0B5FF299-74E6-877A-C66D-0D42A0BD40D4}"/>
              </a:ext>
            </a:extLst>
          </p:cNvPr>
          <p:cNvSpPr txBox="1"/>
          <p:nvPr/>
        </p:nvSpPr>
        <p:spPr>
          <a:xfrm>
            <a:off x="152400" y="111320"/>
            <a:ext cx="8763000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5. Quá trình tối ưu hóa mô hình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994EB-C4B9-FC6C-6B3B-821FF7DDDDDE}"/>
              </a:ext>
            </a:extLst>
          </p:cNvPr>
          <p:cNvSpPr txBox="1"/>
          <p:nvPr/>
        </p:nvSpPr>
        <p:spPr>
          <a:xfrm>
            <a:off x="185650" y="8191500"/>
            <a:ext cx="16578350" cy="11315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342900" marR="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 kumimoji="0" sz="2000" b="1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vi-VN" sz="2400" dirty="0">
                <a:solidFill>
                  <a:srgbClr val="0033CC"/>
                </a:solidFill>
              </a:rPr>
              <a:t>Tối ưu nâng cao: class_weight = </a:t>
            </a:r>
            <a:r>
              <a:rPr lang="vi-VN" sz="2400" b="0" dirty="0"/>
              <a:t>{0: 1.5, 1: 1.0} (Tỷ lệ phạt 1.5:1) Phạt nặng hơn 50% nếu đoán sai ảnh FAKE </a:t>
            </a:r>
            <a:r>
              <a:rPr lang="vi-VN" sz="2400" b="0" dirty="0">
                <a:sym typeface="Wingdings" panose="05000000000000000000" pitchFamily="2" charset="2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sz="2400" dirty="0">
                <a:solidFill>
                  <a:srgbClr val="0033CC"/>
                </a:solidFill>
                <a:sym typeface="Wingdings" panose="05000000000000000000" pitchFamily="2" charset="2"/>
              </a:rPr>
              <a:t>Phải phát hiện bằng được ảnh FAKE (Sản phẩm lỗi trong công ty không được để lọt)</a:t>
            </a:r>
            <a:r>
              <a:rPr lang="vi-VN" sz="2400" dirty="0">
                <a:solidFill>
                  <a:srgbClr val="0033CC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89963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0EA1-84CE-2879-1F9F-A3808F29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8B00EDEF-D2D9-282D-A557-5941347FCAE4}"/>
              </a:ext>
            </a:extLst>
          </p:cNvPr>
          <p:cNvSpPr/>
          <p:nvPr/>
        </p:nvSpPr>
        <p:spPr>
          <a:xfrm>
            <a:off x="15392401" y="0"/>
            <a:ext cx="2895600" cy="2901856"/>
          </a:xfrm>
          <a:custGeom>
            <a:avLst/>
            <a:gdLst/>
            <a:ahLst/>
            <a:cxnLst/>
            <a:rect l="l" t="t" r="r" b="b"/>
            <a:pathLst>
              <a:path w="10974454" h="10439449">
                <a:moveTo>
                  <a:pt x="0" y="0"/>
                </a:moveTo>
                <a:lnTo>
                  <a:pt x="10974454" y="0"/>
                </a:lnTo>
                <a:lnTo>
                  <a:pt x="10974454" y="10439449"/>
                </a:lnTo>
                <a:lnTo>
                  <a:pt x="0" y="1043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702" r="-48232"/>
            </a:stretch>
          </a:blipFill>
        </p:spPr>
        <p:txBody>
          <a:bodyPr/>
          <a:lstStyle/>
          <a:p>
            <a:endParaRPr lang="vi-VN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BD9A2C-B38A-2225-5670-BA2F12E5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8</a:t>
            </a:fld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C822120-8965-B415-E749-FB408B73D7A8}"/>
              </a:ext>
            </a:extLst>
          </p:cNvPr>
          <p:cNvSpPr txBox="1"/>
          <p:nvPr/>
        </p:nvSpPr>
        <p:spPr>
          <a:xfrm>
            <a:off x="152400" y="111320"/>
            <a:ext cx="11658600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6. Kết quả tổng quan &amp; Đánh giá hiệu suất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87323-05CE-8701-4F6C-0C3B26F03F0F}"/>
              </a:ext>
            </a:extLst>
          </p:cNvPr>
          <p:cNvSpPr txBox="1"/>
          <p:nvPr/>
        </p:nvSpPr>
        <p:spPr>
          <a:xfrm>
            <a:off x="342901" y="1056189"/>
            <a:ext cx="8991600" cy="219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KẾT QUẢ TỔNG QUAN: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Độ chính xác (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Accuracy</a:t>
            </a: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) trên tập Test: </a:t>
            </a:r>
            <a:r>
              <a:rPr lang="vi-VN" sz="2400" b="1" dirty="0">
                <a:solidFill>
                  <a:srgbClr val="0033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81.09%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Giá trị mất mát (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Loss</a:t>
            </a: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) trên tập Test:  </a:t>
            </a:r>
            <a:r>
              <a:rPr lang="vi-VN" sz="2400" b="1" dirty="0">
                <a:solidFill>
                  <a:srgbClr val="0033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0.4216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A1CC7D-FF5D-8400-C84C-C20A3FEA8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39866"/>
              </p:ext>
            </p:extLst>
          </p:nvPr>
        </p:nvGraphicFramePr>
        <p:xfrm>
          <a:off x="8229602" y="1832335"/>
          <a:ext cx="8991600" cy="1374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347897787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610030674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1185722435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668655666"/>
                    </a:ext>
                  </a:extLst>
                </a:gridCol>
              </a:tblGrid>
              <a:tr h="458861">
                <a:tc>
                  <a:txBody>
                    <a:bodyPr/>
                    <a:lstStyle/>
                    <a:p>
                      <a:endParaRPr lang="vi-VN" sz="2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Precision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721254"/>
                  </a:ext>
                </a:extLst>
              </a:tr>
              <a:tr h="445122"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b="1" dirty="0">
                          <a:solidFill>
                            <a:srgbClr val="0033CC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96.88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0.9447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761206"/>
                  </a:ext>
                </a:extLst>
              </a:tr>
              <a:tr h="458861"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b="1" dirty="0">
                          <a:solidFill>
                            <a:srgbClr val="0033CC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96.71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0.9418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72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FA8F1F-0AA4-4E9A-FFE1-2B2BA236593D}"/>
              </a:ext>
            </a:extLst>
          </p:cNvPr>
          <p:cNvSpPr txBox="1"/>
          <p:nvPr/>
        </p:nvSpPr>
        <p:spPr>
          <a:xfrm>
            <a:off x="8077200" y="1088094"/>
            <a:ext cx="8991600" cy="57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vi-V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BÁO CÁO HIỆU SUẤT CHI TIẾT (CLASSIFICATION REPORT):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060C5-B0F4-87F3-80F0-9FEBC3224297}"/>
              </a:ext>
            </a:extLst>
          </p:cNvPr>
          <p:cNvSpPr txBox="1"/>
          <p:nvPr/>
        </p:nvSpPr>
        <p:spPr>
          <a:xfrm>
            <a:off x="7620000" y="8678562"/>
            <a:ext cx="105884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200000"/>
              </a:lnSpc>
              <a:buFont typeface="Wingdings" panose="05000000000000000000" pitchFamily="2" charset="2"/>
              <a:buChar char="q"/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vi-VN" altLang="vi-VN" sz="2000" dirty="0"/>
              <a:t> Xu hướng chung: Độ chính xác (Accuracy) của tập Train và Validation đều có xu hướng đi lên, trong khi đường hàm mất mát (Loss) đi xuống đúng hướng.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vi-VN" altLang="vi-VN" sz="2000" dirty="0"/>
              <a:t> Đánh giá hiện tượng Overfitting: Hai đường đồ thị bám khá sát nhau, khoảng cách không quá xa </a:t>
            </a:r>
            <a:r>
              <a:rPr lang="vi-VN" altLang="vi-VN" sz="2000" dirty="0">
                <a:sym typeface="Wingdings" panose="05000000000000000000" pitchFamily="2" charset="2"/>
              </a:rPr>
              <a:t> </a:t>
            </a:r>
            <a:r>
              <a:rPr lang="vi-VN" altLang="vi-VN" sz="2000" dirty="0"/>
              <a:t>Mô hình hoạt động ổn định, không bị hiện tượng học vẹt (Overfitting).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298DCD-89D1-D8BE-B37A-BEE67D5A72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22" t="29851" r="33500" b="15333"/>
          <a:stretch/>
        </p:blipFill>
        <p:spPr>
          <a:xfrm>
            <a:off x="152400" y="3783699"/>
            <a:ext cx="7117807" cy="61000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3A8874-3DEE-02C8-BB3A-4BF7532381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22" t="36543" r="2000" b="21555"/>
          <a:stretch/>
        </p:blipFill>
        <p:spPr>
          <a:xfrm>
            <a:off x="7583588" y="3970690"/>
            <a:ext cx="10552012" cy="458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6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3A234-D9E8-6D7A-0EB3-4706EB98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4B102424-973A-5AF8-17F7-D313B037A950}"/>
              </a:ext>
            </a:extLst>
          </p:cNvPr>
          <p:cNvSpPr/>
          <p:nvPr/>
        </p:nvSpPr>
        <p:spPr>
          <a:xfrm>
            <a:off x="15392401" y="0"/>
            <a:ext cx="2895600" cy="2901856"/>
          </a:xfrm>
          <a:custGeom>
            <a:avLst/>
            <a:gdLst/>
            <a:ahLst/>
            <a:cxnLst/>
            <a:rect l="l" t="t" r="r" b="b"/>
            <a:pathLst>
              <a:path w="10974454" h="10439449">
                <a:moveTo>
                  <a:pt x="0" y="0"/>
                </a:moveTo>
                <a:lnTo>
                  <a:pt x="10974454" y="0"/>
                </a:lnTo>
                <a:lnTo>
                  <a:pt x="10974454" y="10439449"/>
                </a:lnTo>
                <a:lnTo>
                  <a:pt x="0" y="10439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702" r="-4823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C735A6-AFBE-428B-9FA7-3D5D79A8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79134CD1-CCD1-80F6-9B6C-27F9BA220B83}"/>
              </a:ext>
            </a:extLst>
          </p:cNvPr>
          <p:cNvSpPr txBox="1"/>
          <p:nvPr/>
        </p:nvSpPr>
        <p:spPr>
          <a:xfrm>
            <a:off x="152400" y="111320"/>
            <a:ext cx="10744200" cy="651547"/>
          </a:xfrm>
          <a:prstGeom prst="rect">
            <a:avLst/>
          </a:prstGeom>
          <a:solidFill>
            <a:srgbClr val="7030A0"/>
          </a:solidFill>
        </p:spPr>
        <p:txBody>
          <a:bodyPr lIns="0" tIns="0" rIns="0" bIns="0" rtlCol="0" anchor="ctr" anchorCtr="0">
            <a:noAutofit/>
          </a:bodyPr>
          <a:lstStyle/>
          <a:p>
            <a:pPr>
              <a:lnSpc>
                <a:spcPts val="4479"/>
              </a:lnSpc>
            </a:pPr>
            <a:r>
              <a:rPr lang="vi-VN" sz="44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7. Trình kiểm tra ảnh FAKE và REAL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183DF-26E5-C5ED-7EA0-966F19212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00" t="20666" r="40500" b="18889"/>
          <a:stretch/>
        </p:blipFill>
        <p:spPr>
          <a:xfrm>
            <a:off x="1295401" y="1613271"/>
            <a:ext cx="6760324" cy="7661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CE3104-2B9F-A14D-C461-47D76460DE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000" t="20666" r="40500" b="19071"/>
          <a:stretch/>
        </p:blipFill>
        <p:spPr>
          <a:xfrm>
            <a:off x="9743662" y="1638300"/>
            <a:ext cx="7096539" cy="7636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865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"/>
            <a:ext cx="5459630" cy="10287000"/>
          </a:xfrm>
          <a:custGeom>
            <a:avLst/>
            <a:gdLst/>
            <a:ahLst/>
            <a:cxnLst/>
            <a:rect l="l" t="t" r="r" b="b"/>
            <a:pathLst>
              <a:path w="11093346" h="12899239">
                <a:moveTo>
                  <a:pt x="0" y="0"/>
                </a:moveTo>
                <a:lnTo>
                  <a:pt x="11093346" y="0"/>
                </a:lnTo>
                <a:lnTo>
                  <a:pt x="11093346" y="12899240"/>
                </a:lnTo>
                <a:lnTo>
                  <a:pt x="0" y="12899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189" t="-12696" r="-1" b="-12696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2D46F5C-C3A7-0801-6A89-16F6AECB8F68}"/>
              </a:ext>
            </a:extLst>
          </p:cNvPr>
          <p:cNvSpPr txBox="1"/>
          <p:nvPr/>
        </p:nvSpPr>
        <p:spPr>
          <a:xfrm>
            <a:off x="6874135" y="1839086"/>
            <a:ext cx="10938782" cy="660882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0" indent="0" algn="l"/>
            <a:r>
              <a:rPr lang="en-US" sz="13800" b="1" u="none" dirty="0">
                <a:ln w="22225">
                  <a:solidFill>
                    <a:srgbClr val="7030A0"/>
                  </a:solidFill>
                  <a:prstDash val="solid"/>
                </a:ln>
                <a:solidFill>
                  <a:schemeClr val="bg1"/>
                </a:solidFill>
                <a:effectLst>
                  <a:outerShdw dist="50800" dir="2700000" algn="tl" rotWithShape="0">
                    <a:srgbClr val="7030A0"/>
                  </a:outerShdw>
                </a:effectLst>
                <a:latin typeface="Muli Bold"/>
                <a:ea typeface="Muli Bold"/>
                <a:cs typeface="Muli Bold"/>
                <a:sym typeface="Muli Bold"/>
              </a:rPr>
              <a:t>THANK YOU FOR WATCHING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39278-6BB3-F40B-8BF4-9BA02B6E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504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504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8235</TotalTime>
  <Words>1214</Words>
  <Application>Microsoft Office PowerPoint</Application>
  <PresentationFormat>Custom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Muli Bold</vt:lpstr>
      <vt:lpstr>Aptos</vt:lpstr>
      <vt:lpstr>Segoe UI</vt:lpstr>
      <vt:lpstr>Wingdings</vt:lpstr>
      <vt:lpstr>Calibri</vt:lpstr>
      <vt:lpstr>Courier New</vt:lpstr>
      <vt:lpstr>Arial</vt:lpstr>
      <vt:lpstr>Muli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Trắng Tím Hồng 3D Trình bày Tầm nhìn Bản thuyết trình Kinh doanh</dc:title>
  <cp:lastModifiedBy>Pham Minh Duc</cp:lastModifiedBy>
  <cp:revision>21</cp:revision>
  <dcterms:created xsi:type="dcterms:W3CDTF">2006-08-16T00:00:00Z</dcterms:created>
  <dcterms:modified xsi:type="dcterms:W3CDTF">2026-05-19T09:50:36Z</dcterms:modified>
  <dc:identifier>DAHAsuYgwCA</dc:identifier>
</cp:coreProperties>
</file>